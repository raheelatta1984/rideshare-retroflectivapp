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001000" y="502920"/>
            <a:ext cx="3749039" cy="3749039"/>
          </a:xfrm>
          <a:prstGeom prst="ellipse">
            <a:avLst/>
          </a:prstGeom>
          <a:solidFill>
            <a:srgbClr val="11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549640" y="1051560"/>
            <a:ext cx="2651760" cy="2651760"/>
          </a:xfrm>
          <a:prstGeom prst="ellipse">
            <a:avLst/>
          </a:prstGeom>
          <a:solidFill>
            <a:srgbClr val="173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621792"/>
            <a:ext cx="6217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21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21C8B7"/>
                </a:solidFill>
                <a:latin typeface="Arial"/>
              </a:rPr>
              <a:t>NSW  ·  SPONSORSHIP DISCUSSION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161288"/>
            <a:ext cx="6035040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602"/>
              </a:lnSpc>
              <a:spcBef>
                <a:spcPts val="0"/>
              </a:spcBef>
              <a:spcAft>
                <a:spcPts val="0"/>
              </a:spcAft>
            </a:pPr>
            <a:r>
              <a:rPr sz="3900" b="1" i="0">
                <a:solidFill>
                  <a:srgbClr val="FFFFFF"/>
                </a:solidFill>
                <a:latin typeface="Arial"/>
              </a:rPr>
              <a:t>Retroflex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874519"/>
            <a:ext cx="612648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22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FFFFF"/>
                </a:solidFill>
                <a:latin typeface="Arial"/>
              </a:rPr>
              <a:t>Digital rideshare</a:t>
            </a:r>
          </a:p>
          <a:p>
            <a:pPr algn="l">
              <a:lnSpc>
                <a:spcPts val="3422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FFFFF"/>
                </a:solidFill>
                <a:latin typeface="Arial"/>
              </a:rPr>
              <a:t>identification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3218688"/>
            <a:ext cx="6217920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8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8BE7D8"/>
                </a:solidFill>
                <a:latin typeface="Arial"/>
              </a:rPr>
              <a:t>A stationary-first display, controlled by the driver.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4041648"/>
            <a:ext cx="603504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34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CD5E0"/>
                </a:solidFill>
                <a:latin typeface="Arial"/>
              </a:rPr>
              <a:t>An Android app paired with an in-vehicle Android terminal.</a:t>
            </a:r>
          </a:p>
          <a:p>
            <a:pPr algn="l">
              <a:lnSpc>
                <a:spcPts val="1534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CD5E0"/>
                </a:solidFill>
                <a:latin typeface="Arial"/>
              </a:rPr>
              <a:t>Working prototype; demonstration available.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5056632"/>
            <a:ext cx="3246120" cy="438912"/>
          </a:xfrm>
          <a:prstGeom prst="roundRect">
            <a:avLst/>
          </a:prstGeom>
          <a:solidFill>
            <a:srgbClr val="21C8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5184648"/>
            <a:ext cx="2971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121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B1423"/>
                </a:solidFill>
                <a:latin typeface="Arial"/>
              </a:rPr>
              <a:t>SEEKING A CO-DESIGN SPONSOR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6144768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91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91A0B2"/>
                </a:solidFill>
                <a:latin typeface="Arial"/>
              </a:rPr>
              <a:t>Independent concept. No TfNSW or rideshare-platform endorsement is claimed.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430768" y="3218688"/>
            <a:ext cx="923544" cy="0"/>
          </a:xfrm>
          <a:prstGeom prst="line">
            <a:avLst/>
          </a:prstGeom>
          <a:ln w="22860">
            <a:solidFill>
              <a:srgbClr val="21C8B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8787384" y="3127248"/>
            <a:ext cx="182880" cy="182880"/>
          </a:xfrm>
          <a:prstGeom prst="ellipse">
            <a:avLst/>
          </a:prstGeom>
          <a:solidFill>
            <a:srgbClr val="FFB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516368" y="1947672"/>
            <a:ext cx="1353312" cy="2578608"/>
          </a:xfrm>
          <a:prstGeom prst="roundRect">
            <a:avLst/>
          </a:prstGeom>
          <a:solidFill>
            <a:srgbClr val="111F33"/>
          </a:solidFill>
          <a:ln w="15240">
            <a:solidFill>
              <a:srgbClr val="21C8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635240" y="2221992"/>
            <a:ext cx="1115568" cy="1993392"/>
          </a:xfrm>
          <a:prstGeom prst="roundRect">
            <a:avLst/>
          </a:prstGeom>
          <a:solidFill>
            <a:srgbClr val="0A11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101583" y="2029968"/>
            <a:ext cx="164592" cy="64008"/>
          </a:xfrm>
          <a:prstGeom prst="ellipse">
            <a:avLst/>
          </a:prstGeom>
          <a:solidFill>
            <a:srgbClr val="5061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90688" y="2615184"/>
            <a:ext cx="82296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16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DRIVER</a:t>
            </a:r>
          </a:p>
          <a:p>
            <a:pPr algn="ctr">
              <a:lnSpc>
                <a:spcPts val="1416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APP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99831" y="3401568"/>
            <a:ext cx="768096" cy="256032"/>
          </a:xfrm>
          <a:prstGeom prst="roundRect">
            <a:avLst/>
          </a:prstGeom>
          <a:solidFill>
            <a:srgbClr val="1A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36408" y="3465576"/>
            <a:ext cx="694944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778"/>
              </a:lnSpc>
              <a:spcBef>
                <a:spcPts val="0"/>
              </a:spcBef>
              <a:spcAft>
                <a:spcPts val="0"/>
              </a:spcAft>
            </a:pPr>
            <a:r>
              <a:rPr sz="660" b="1" i="0">
                <a:solidFill>
                  <a:srgbClr val="8BE7D8"/>
                </a:solidFill>
                <a:latin typeface="Arial"/>
              </a:rPr>
              <a:t>DISPLAY 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99831" y="3767328"/>
            <a:ext cx="768096" cy="256032"/>
          </a:xfrm>
          <a:prstGeom prst="roundRect">
            <a:avLst/>
          </a:prstGeom>
          <a:solidFill>
            <a:srgbClr val="1A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36408" y="3831336"/>
            <a:ext cx="694944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778"/>
              </a:lnSpc>
              <a:spcBef>
                <a:spcPts val="0"/>
              </a:spcBef>
              <a:spcAft>
                <a:spcPts val="0"/>
              </a:spcAft>
            </a:pPr>
            <a:r>
              <a:rPr sz="660" b="1" i="0">
                <a:solidFill>
                  <a:srgbClr val="8BE7D8"/>
                </a:solidFill>
                <a:latin typeface="Arial"/>
              </a:rPr>
              <a:t>CHARGING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06640" y="4700016"/>
            <a:ext cx="1600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91"/>
              </a:lnSpc>
              <a:spcBef>
                <a:spcPts val="0"/>
              </a:spcBef>
              <a:spcAft>
                <a:spcPts val="0"/>
              </a:spcAft>
            </a:pPr>
            <a:r>
              <a:rPr sz="840" b="1" i="0">
                <a:solidFill>
                  <a:srgbClr val="9DAFC0"/>
                </a:solidFill>
                <a:latin typeface="Arial"/>
              </a:rPr>
              <a:t>ANDROID APP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473184" y="1709928"/>
            <a:ext cx="2084831" cy="3401568"/>
          </a:xfrm>
          <a:prstGeom prst="roundRect">
            <a:avLst/>
          </a:prstGeom>
          <a:solidFill>
            <a:srgbClr val="F5F8FA"/>
          </a:solidFill>
          <a:ln w="15875">
            <a:solidFill>
              <a:srgbClr val="21C8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646920" y="1901952"/>
            <a:ext cx="1737360" cy="2999232"/>
          </a:xfrm>
          <a:prstGeom prst="roundRect">
            <a:avLst/>
          </a:prstGeom>
          <a:solidFill>
            <a:srgbClr val="070B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0177272" y="2057400"/>
            <a:ext cx="667512" cy="54864"/>
          </a:xfrm>
          <a:prstGeom prst="roundRect">
            <a:avLst/>
          </a:prstGeom>
          <a:solidFill>
            <a:srgbClr val="5262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29800" y="2980944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121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A9BACB"/>
                </a:solidFill>
                <a:latin typeface="Arial"/>
              </a:rPr>
              <a:t>AUTHORIZED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29800" y="3319272"/>
            <a:ext cx="137160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5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Arial"/>
              </a:rPr>
              <a:t>RIDE ID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259568" y="4251960"/>
            <a:ext cx="512064" cy="36576"/>
          </a:xfrm>
          <a:prstGeom prst="roundRect">
            <a:avLst/>
          </a:prstGeom>
          <a:solidFill>
            <a:srgbClr val="21C8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418320" y="5285232"/>
            <a:ext cx="221284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91"/>
              </a:lnSpc>
              <a:spcBef>
                <a:spcPts val="0"/>
              </a:spcBef>
              <a:spcAft>
                <a:spcPts val="0"/>
              </a:spcAft>
            </a:pPr>
            <a:r>
              <a:rPr sz="840" b="1" i="0">
                <a:solidFill>
                  <a:srgbClr val="9DAFC0"/>
                </a:solidFill>
                <a:latin typeface="Arial"/>
              </a:rPr>
              <a:t>ANDROID DISPLAY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789920" y="6547104"/>
            <a:ext cx="7315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920"/>
              </a:lnSpc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8292A8"/>
                </a:solidFill>
                <a:latin typeface="Arial"/>
              </a:rPr>
              <a:t>01 /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93192"/>
            <a:ext cx="10789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21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21C8B7"/>
                </a:solidFill>
                <a:latin typeface="Arial"/>
              </a:rPr>
              <a:t>02 · THE OPPORTUNITY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13232"/>
            <a:ext cx="1083564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68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42236"/>
                </a:solidFill>
                <a:latin typeface="Arial"/>
              </a:rPr>
              <a:t>A practical opportunity—if it can be proven safe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71016"/>
            <a:ext cx="10652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</a:pPr>
            <a:r>
              <a:rPr sz="1220" b="0" i="0">
                <a:solidFill>
                  <a:srgbClr val="5D6D80"/>
                </a:solidFill>
                <a:latin typeface="Arial"/>
              </a:rPr>
              <a:t>Explore a digital companion to existing rideshare identification, not a substitute for it.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901952"/>
            <a:ext cx="3447288" cy="2944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23544" y="2157984"/>
            <a:ext cx="347472" cy="347472"/>
          </a:xfrm>
          <a:prstGeom prst="ellipse">
            <a:avLst/>
          </a:prstGeom>
          <a:solidFill>
            <a:srgbClr val="21C8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23544" y="2240280"/>
            <a:ext cx="34747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4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0B1423"/>
                </a:solidFill>
                <a:latin typeface="Arial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544" y="2724912"/>
            <a:ext cx="2880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62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5D6D80"/>
                </a:solidFill>
                <a:latin typeface="Arial"/>
              </a:rPr>
              <a:t>TODAY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" y="3035808"/>
            <a:ext cx="294436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05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42236"/>
                </a:solidFill>
                <a:latin typeface="Arial"/>
              </a:rPr>
              <a:t>Physical identifiers are fixed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" y="3730752"/>
            <a:ext cx="2907792" cy="8503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33"/>
              </a:lnSpc>
              <a:spcBef>
                <a:spcPts val="0"/>
              </a:spcBef>
              <a:spcAft>
                <a:spcPts val="0"/>
              </a:spcAft>
            </a:pPr>
            <a:r>
              <a:rPr sz="1130" b="0" i="0">
                <a:solidFill>
                  <a:srgbClr val="5D6D80"/>
                </a:solidFill>
                <a:latin typeface="Arial"/>
              </a:rPr>
              <a:t>Rideshare identification is commonly provided by a physical sticker or other fixed identifier.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0832" y="1901952"/>
            <a:ext cx="3447288" cy="2944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608576" y="2157984"/>
            <a:ext cx="347472" cy="347472"/>
          </a:xfrm>
          <a:prstGeom prst="ellipse">
            <a:avLst/>
          </a:prstGeom>
          <a:solidFill>
            <a:srgbClr val="FFB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08576" y="2240280"/>
            <a:ext cx="34747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4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0B1423"/>
                </a:solidFill>
                <a:latin typeface="Arial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08576" y="2724912"/>
            <a:ext cx="2880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62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5D6D80"/>
                </a:solidFill>
                <a:latin typeface="Arial"/>
              </a:rPr>
              <a:t>QUESTION TO TEST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08576" y="3035808"/>
            <a:ext cx="294436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05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42236"/>
                </a:solidFill>
                <a:latin typeface="Arial"/>
              </a:rPr>
              <a:t>Can the display follow vehicle state?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08576" y="3730752"/>
            <a:ext cx="2907792" cy="8503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33"/>
              </a:lnSpc>
              <a:spcBef>
                <a:spcPts val="0"/>
              </a:spcBef>
              <a:spcAft>
                <a:spcPts val="0"/>
              </a:spcAft>
            </a:pPr>
            <a:r>
              <a:rPr sz="1130" b="0" i="0">
                <a:solidFill>
                  <a:srgbClr val="5D6D80"/>
                </a:solidFill>
                <a:latin typeface="Arial"/>
              </a:rPr>
              <a:t>Could an authorized identifier be driver-managed and automatically go dark when movement begins?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55864" y="1901952"/>
            <a:ext cx="3447288" cy="2944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293608" y="2157984"/>
            <a:ext cx="347472" cy="347472"/>
          </a:xfrm>
          <a:prstGeom prst="ellipse">
            <a:avLst/>
          </a:prstGeom>
          <a:solidFill>
            <a:srgbClr val="8BE7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93608" y="2240280"/>
            <a:ext cx="34747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4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0B1423"/>
                </a:solidFill>
                <a:latin typeface="Arial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93608" y="2724912"/>
            <a:ext cx="2880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62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5D6D80"/>
                </a:solidFill>
                <a:latin typeface="Arial"/>
              </a:rPr>
              <a:t>PILOT OPPORTUNITY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93608" y="3035808"/>
            <a:ext cx="294436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05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42236"/>
                </a:solidFill>
                <a:latin typeface="Arial"/>
              </a:rPr>
              <a:t>Start with evidence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93608" y="3730752"/>
            <a:ext cx="2907792" cy="8503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33"/>
              </a:lnSpc>
              <a:spcBef>
                <a:spcPts val="0"/>
              </a:spcBef>
              <a:spcAft>
                <a:spcPts val="0"/>
              </a:spcAft>
            </a:pPr>
            <a:r>
              <a:rPr sz="1130" b="0" i="0">
                <a:solidFill>
                  <a:srgbClr val="5D6D80"/>
                </a:solidFill>
                <a:latin typeface="Arial"/>
              </a:rPr>
              <a:t>A supplementary display can be assessed against road safety, clarity, usability, privacy, and cyber requirements.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5193792"/>
            <a:ext cx="10817352" cy="713232"/>
          </a:xfrm>
          <a:prstGeom prst="roundRect">
            <a:avLst/>
          </a:prstGeom>
          <a:solidFill>
            <a:srgbClr val="0B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5330952"/>
            <a:ext cx="15361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4"/>
              </a:lnSpc>
              <a:spcBef>
                <a:spcPts val="0"/>
              </a:spcBef>
              <a:spcAft>
                <a:spcPts val="0"/>
              </a:spcAft>
            </a:pPr>
            <a:r>
              <a:rPr sz="860" b="1" i="0">
                <a:solidFill>
                  <a:srgbClr val="21C8B7"/>
                </a:solidFill>
                <a:latin typeface="Arial"/>
              </a:rPr>
              <a:t>PROPOSED SAFEGUARD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23744" y="5312664"/>
            <a:ext cx="86410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</a:pPr>
            <a:r>
              <a:rPr sz="1220" b="1" i="0">
                <a:solidFill>
                  <a:srgbClr val="FFFFFF"/>
                </a:solidFill>
                <a:latin typeface="Arial"/>
              </a:rPr>
              <a:t>Keep every required physical sticker or identifier in place unless formally approved otherwise.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6547104"/>
            <a:ext cx="7315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0"/>
              </a:lnSpc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8A99A9"/>
                </a:solidFill>
                <a:latin typeface="Arial"/>
              </a:rPr>
              <a:t>RETROFLEX  ·  SPONSORSHIP DISCUSSION DRAFT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89920" y="6547104"/>
            <a:ext cx="7315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920"/>
              </a:lnSpc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8A99A9"/>
                </a:solidFill>
                <a:latin typeface="Arial"/>
              </a:rPr>
              <a:t>02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93192"/>
            <a:ext cx="10789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21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21C8B7"/>
                </a:solidFill>
                <a:latin typeface="Arial"/>
              </a:rPr>
              <a:t>03 · THE CONCEPT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13232"/>
            <a:ext cx="1083564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68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42236"/>
                </a:solidFill>
                <a:latin typeface="Arial"/>
              </a:rPr>
              <a:t>One Android app. One paired in-vehicle terminal.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71016"/>
            <a:ext cx="10652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</a:pPr>
            <a:r>
              <a:rPr sz="1220" b="0" i="0">
                <a:solidFill>
                  <a:srgbClr val="5D6D80"/>
                </a:solidFill>
                <a:latin typeface="Arial"/>
              </a:rPr>
              <a:t>A simple operating model for driver control, display status, and a customer-facing identifier.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901952"/>
            <a:ext cx="3429000" cy="3364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14400" y="2121408"/>
            <a:ext cx="402336" cy="402336"/>
          </a:xfrm>
          <a:prstGeom prst="ellipse">
            <a:avLst/>
          </a:prstGeom>
          <a:solidFill>
            <a:srgbClr val="E5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240280"/>
            <a:ext cx="402336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02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142236"/>
                </a:solidFill>
                <a:latin typeface="Arial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734056"/>
            <a:ext cx="2834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62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5D6D80"/>
                </a:solidFill>
                <a:latin typeface="Arial"/>
              </a:rPr>
              <a:t>DRIVER APP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044952"/>
            <a:ext cx="290779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05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42236"/>
                </a:solidFill>
                <a:latin typeface="Arial"/>
              </a:rPr>
              <a:t>Android mobile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529584"/>
            <a:ext cx="2889504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21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D6D80"/>
                </a:solidFill>
                <a:latin typeface="Arial"/>
              </a:rPr>
              <a:t>Enable or disable the display, choose an authorized identifier, check terminal power/charging, and set brightness.</a:t>
            </a:r>
          </a:p>
        </p:txBody>
      </p:sp>
      <p:sp>
        <p:nvSpPr>
          <p:cNvPr id="11" name="Oval 10"/>
          <p:cNvSpPr/>
          <p:nvPr/>
        </p:nvSpPr>
        <p:spPr>
          <a:xfrm>
            <a:off x="4151376" y="3310128"/>
            <a:ext cx="274320" cy="274320"/>
          </a:xfrm>
          <a:prstGeom prst="ellipse">
            <a:avLst/>
          </a:prstGeom>
          <a:solidFill>
            <a:srgbClr val="21C8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51376" y="3291840"/>
            <a:ext cx="2743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124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B1423"/>
                </a:solidFill>
                <a:latin typeface="Arial"/>
              </a:rPr>
              <a:t>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79976" y="1901952"/>
            <a:ext cx="3429000" cy="3364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608576" y="2121408"/>
            <a:ext cx="402336" cy="402336"/>
          </a:xfrm>
          <a:prstGeom prst="ellipse">
            <a:avLst/>
          </a:prstGeom>
          <a:solidFill>
            <a:srgbClr val="E5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08576" y="2240280"/>
            <a:ext cx="402336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02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142236"/>
                </a:solidFill>
                <a:latin typeface="Arial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08576" y="2734056"/>
            <a:ext cx="2834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62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5D6D80"/>
                </a:solidFill>
                <a:latin typeface="Arial"/>
              </a:rPr>
              <a:t>REMOTE 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08576" y="3044952"/>
            <a:ext cx="290779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05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42236"/>
                </a:solidFill>
                <a:latin typeface="Arial"/>
              </a:rPr>
              <a:t>Internet pairing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08576" y="3529584"/>
            <a:ext cx="2889504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21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D6D80"/>
                </a:solidFill>
                <a:latin typeface="Arial"/>
              </a:rPr>
              <a:t>Commands are sent to the paired terminal. Authentication, command integrity, and outage handling require independent review.</a:t>
            </a:r>
          </a:p>
        </p:txBody>
      </p:sp>
      <p:sp>
        <p:nvSpPr>
          <p:cNvPr id="19" name="Oval 18"/>
          <p:cNvSpPr/>
          <p:nvPr/>
        </p:nvSpPr>
        <p:spPr>
          <a:xfrm>
            <a:off x="7845552" y="3310128"/>
            <a:ext cx="274320" cy="274320"/>
          </a:xfrm>
          <a:prstGeom prst="ellipse">
            <a:avLst/>
          </a:prstGeom>
          <a:solidFill>
            <a:srgbClr val="21C8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45552" y="3291840"/>
            <a:ext cx="2743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124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B1423"/>
                </a:solidFill>
                <a:latin typeface="Arial"/>
              </a:rPr>
              <a:t>›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74152" y="1901952"/>
            <a:ext cx="3429000" cy="3364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302752" y="2121408"/>
            <a:ext cx="402336" cy="402336"/>
          </a:xfrm>
          <a:prstGeom prst="ellipse">
            <a:avLst/>
          </a:prstGeom>
          <a:solidFill>
            <a:srgbClr val="E5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02752" y="2240280"/>
            <a:ext cx="402336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02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142236"/>
                </a:solidFill>
                <a:latin typeface="Arial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02752" y="2734056"/>
            <a:ext cx="2834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62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5D6D80"/>
                </a:solidFill>
                <a:latin typeface="Arial"/>
              </a:rPr>
              <a:t>DISPLAY TERMINAL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02752" y="3044952"/>
            <a:ext cx="290779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05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42236"/>
                </a:solidFill>
                <a:latin typeface="Arial"/>
              </a:rPr>
              <a:t>Android mobile or tablet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02752" y="3529584"/>
            <a:ext cx="2889504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21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D6D80"/>
                </a:solidFill>
                <a:latin typeface="Arial"/>
              </a:rPr>
              <a:t>Shows the approved identifier. Mounting position(s) are agreed only after visibility, distraction, and occupant-safety assessment.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85800" y="5504688"/>
            <a:ext cx="10817352" cy="502920"/>
          </a:xfrm>
          <a:prstGeom prst="roundRect">
            <a:avLst/>
          </a:prstGeom>
          <a:solidFill>
            <a:srgbClr val="E5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96112" y="5650992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02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178D81"/>
                </a:solidFill>
                <a:latin typeface="Arial"/>
              </a:rPr>
              <a:t>PILOT PRINCIPLE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50008" y="5596128"/>
            <a:ext cx="8869680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45"/>
              </a:lnSpc>
              <a:spcBef>
                <a:spcPts val="0"/>
              </a:spcBef>
              <a:spcAft>
                <a:spcPts val="0"/>
              </a:spcAft>
            </a:pPr>
            <a:r>
              <a:rPr sz="1140" b="1" i="0">
                <a:solidFill>
                  <a:srgbClr val="142236"/>
                </a:solidFill>
                <a:latin typeface="Arial"/>
              </a:rPr>
              <a:t>Retain required physical rideshare identification during assessment and any approved pilot.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6547104"/>
            <a:ext cx="7315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0"/>
              </a:lnSpc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8A99A9"/>
                </a:solidFill>
                <a:latin typeface="Arial"/>
              </a:rPr>
              <a:t>RETROFLEX  ·  SPONSORSHIP DISCUSSION DRAFT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789920" y="6547104"/>
            <a:ext cx="7315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920"/>
              </a:lnSpc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8A99A9"/>
                </a:solidFill>
                <a:latin typeface="Arial"/>
              </a:rPr>
              <a:t>03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93192"/>
            <a:ext cx="10789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21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21C8B7"/>
                </a:solidFill>
                <a:latin typeface="Arial"/>
              </a:rPr>
              <a:t>04 · OPERATING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13232"/>
            <a:ext cx="1083564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68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Display state follows vehicle state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71016"/>
            <a:ext cx="10652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</a:pPr>
            <a:r>
              <a:rPr sz="1220" b="0" i="0">
                <a:solidFill>
                  <a:srgbClr val="9BAABE"/>
                </a:solidFill>
                <a:latin typeface="Arial"/>
              </a:rPr>
              <a:t>Proposed behavior for validation; the speed source, response time, and fault handling must be tested.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956816"/>
            <a:ext cx="2377440" cy="2615184"/>
          </a:xfrm>
          <a:prstGeom prst="roundRect">
            <a:avLst/>
          </a:prstGeom>
          <a:solidFill>
            <a:srgbClr val="111F33"/>
          </a:solidFill>
          <a:ln w="12700">
            <a:solidFill>
              <a:srgbClr val="21C8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59536" y="2185416"/>
            <a:ext cx="384048" cy="384048"/>
          </a:xfrm>
          <a:prstGeom prst="ellipse">
            <a:avLst/>
          </a:prstGeom>
          <a:solidFill>
            <a:srgbClr val="21C8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" y="2304288"/>
            <a:ext cx="38404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02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0B1423"/>
                </a:solidFill>
                <a:latin typeface="Arial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761488"/>
            <a:ext cx="1975104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57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FFFFFF"/>
                </a:solidFill>
                <a:latin typeface="Arial"/>
              </a:rPr>
              <a:t>DRIVER ENABLES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3392424"/>
            <a:ext cx="1975104" cy="896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38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FFFFF"/>
                </a:solidFill>
                <a:latin typeface="Arial"/>
              </a:rPr>
              <a:t>The driver can switch the display on or off from the Android app.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45536" y="3035808"/>
            <a:ext cx="29260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95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21C8B7"/>
                </a:solidFill>
                <a:latin typeface="Arial"/>
              </a:rPr>
              <a:t>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93008" y="1956816"/>
            <a:ext cx="2377440" cy="2615184"/>
          </a:xfrm>
          <a:prstGeom prst="roundRect">
            <a:avLst/>
          </a:prstGeom>
          <a:solidFill>
            <a:srgbClr val="21C8B7"/>
          </a:solidFill>
          <a:ln w="12700">
            <a:solidFill>
              <a:srgbClr val="8BE7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694176" y="2185416"/>
            <a:ext cx="384048" cy="384048"/>
          </a:xfrm>
          <a:prstGeom prst="ellipse">
            <a:avLst/>
          </a:prstGeom>
          <a:solidFill>
            <a:srgbClr val="8BE7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94176" y="2304288"/>
            <a:ext cx="38404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02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0B1423"/>
                </a:solidFill>
                <a:latin typeface="Arial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94176" y="2761488"/>
            <a:ext cx="1975104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57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0B1423"/>
                </a:solidFill>
                <a:latin typeface="Arial"/>
              </a:rPr>
              <a:t>STOPPED &gt;10 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94176" y="3392424"/>
            <a:ext cx="1975104" cy="896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38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0B1423"/>
                </a:solidFill>
                <a:latin typeface="Arial"/>
              </a:rPr>
              <a:t>Show the authorized identifier after the agreed stationary period.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80176" y="3035808"/>
            <a:ext cx="29260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95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21C8B7"/>
                </a:solidFill>
                <a:latin typeface="Arial"/>
              </a:rPr>
              <a:t>›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27648" y="1956816"/>
            <a:ext cx="2377440" cy="2615184"/>
          </a:xfrm>
          <a:prstGeom prst="roundRect">
            <a:avLst/>
          </a:prstGeom>
          <a:solidFill>
            <a:srgbClr val="1A2B42"/>
          </a:solidFill>
          <a:ln w="12700">
            <a:solidFill>
              <a:srgbClr val="8BE7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528816" y="2185416"/>
            <a:ext cx="384048" cy="384048"/>
          </a:xfrm>
          <a:prstGeom prst="ellipse">
            <a:avLst/>
          </a:prstGeom>
          <a:solidFill>
            <a:srgbClr val="8BE7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28816" y="2304288"/>
            <a:ext cx="38404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02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0B1423"/>
                </a:solidFill>
                <a:latin typeface="Arial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28816" y="2761488"/>
            <a:ext cx="1975104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57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FFFFFF"/>
                </a:solidFill>
                <a:latin typeface="Arial"/>
              </a:rPr>
              <a:t>SPEED &gt;0.5 km/h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28816" y="3392424"/>
            <a:ext cx="1975104" cy="896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38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FFFFF"/>
                </a:solidFill>
                <a:latin typeface="Arial"/>
              </a:rPr>
              <a:t>Automatically change to a blank screen as movement begins.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14816" y="3035808"/>
            <a:ext cx="29260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95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21C8B7"/>
                </a:solidFill>
                <a:latin typeface="Arial"/>
              </a:rPr>
              <a:t>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62288" y="1956816"/>
            <a:ext cx="2377440" cy="2615184"/>
          </a:xfrm>
          <a:prstGeom prst="roundRect">
            <a:avLst/>
          </a:prstGeom>
          <a:solidFill>
            <a:srgbClr val="1A2B42"/>
          </a:solidFill>
          <a:ln w="12700">
            <a:solidFill>
              <a:srgbClr val="8BE7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363456" y="2185416"/>
            <a:ext cx="384048" cy="384048"/>
          </a:xfrm>
          <a:prstGeom prst="ellipse">
            <a:avLst/>
          </a:prstGeom>
          <a:solidFill>
            <a:srgbClr val="8BE7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63456" y="2304288"/>
            <a:ext cx="384048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02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0B1423"/>
                </a:solidFill>
                <a:latin typeface="Arial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63456" y="2761488"/>
            <a:ext cx="1975104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57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FFFFFF"/>
                </a:solidFill>
                <a:latin typeface="Arial"/>
              </a:rPr>
              <a:t>FAULT / NO SIGNAL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63456" y="3392424"/>
            <a:ext cx="1975104" cy="896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38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FFFFFF"/>
                </a:solidFill>
                <a:latin typeface="Arial"/>
              </a:rPr>
              <a:t>Proposed safe state: blank until valid inputs and a stationary state are restored.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8368" y="4882896"/>
            <a:ext cx="3200400" cy="530352"/>
          </a:xfrm>
          <a:prstGeom prst="roundRect">
            <a:avLst/>
          </a:prstGeom>
          <a:solidFill>
            <a:srgbClr val="111F33"/>
          </a:solidFill>
          <a:ln w="12700">
            <a:solidFill>
              <a:srgbClr val="1A2B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1248" y="4992624"/>
            <a:ext cx="146304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4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9BAABE"/>
                </a:solidFill>
                <a:latin typeface="Arial"/>
              </a:rPr>
              <a:t>DEFAULT BRIGHTNESS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07792" y="4946904"/>
            <a:ext cx="67665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888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1C8B7"/>
                </a:solidFill>
                <a:latin typeface="Arial"/>
              </a:rPr>
              <a:t>10%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096512" y="4882896"/>
            <a:ext cx="3200400" cy="530352"/>
          </a:xfrm>
          <a:prstGeom prst="roundRect">
            <a:avLst/>
          </a:prstGeom>
          <a:solidFill>
            <a:srgbClr val="111F33"/>
          </a:solidFill>
          <a:ln w="12700">
            <a:solidFill>
              <a:srgbClr val="1A2B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279392" y="4992624"/>
            <a:ext cx="146304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4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9BAABE"/>
                </a:solidFill>
                <a:latin typeface="Arial"/>
              </a:rPr>
              <a:t>DRIVER CONTROL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742432" y="4965192"/>
            <a:ext cx="131673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97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8BE7D8"/>
                </a:solidFill>
                <a:latin typeface="Arial"/>
              </a:rPr>
              <a:t>ON / OFF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534656" y="4882896"/>
            <a:ext cx="4005072" cy="530352"/>
          </a:xfrm>
          <a:prstGeom prst="roundRect">
            <a:avLst/>
          </a:prstGeom>
          <a:solidFill>
            <a:srgbClr val="111F33"/>
          </a:solidFill>
          <a:ln w="12700">
            <a:solidFill>
              <a:srgbClr val="1A2B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717536" y="4992624"/>
            <a:ext cx="167335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4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9BAABE"/>
                </a:solidFill>
                <a:latin typeface="Arial"/>
              </a:rPr>
              <a:t>FAULT OR LOST INPUT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74352" y="4965192"/>
            <a:ext cx="1645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97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8BE7D8"/>
                </a:solidFill>
                <a:latin typeface="Arial"/>
              </a:rPr>
              <a:t>BLANK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5800" y="5824728"/>
            <a:ext cx="10789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50"/>
              </a:lnSpc>
              <a:spcBef>
                <a:spcPts val="0"/>
              </a:spcBef>
              <a:spcAft>
                <a:spcPts val="0"/>
              </a:spcAft>
            </a:pPr>
            <a:r>
              <a:rPr sz="890" b="0" i="1">
                <a:solidFill>
                  <a:srgbClr val="9BAABE"/>
                </a:solidFill>
                <a:latin typeface="Arial"/>
              </a:rPr>
              <a:t>These parameters are prototype/proposed requirements—not a finding of NSW legal compliance.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" y="6547104"/>
            <a:ext cx="7315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0"/>
              </a:lnSpc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8292A8"/>
                </a:solidFill>
                <a:latin typeface="Arial"/>
              </a:rPr>
              <a:t>RETROFLEX  ·  SPONSORSHIP DISCUSSION DRAFT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789920" y="6547104"/>
            <a:ext cx="7315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920"/>
              </a:lnSpc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8292A8"/>
                </a:solidFill>
                <a:latin typeface="Arial"/>
              </a:rPr>
              <a:t>04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93192"/>
            <a:ext cx="10789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21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21C8B7"/>
                </a:solidFill>
                <a:latin typeface="Arial"/>
              </a:rPr>
              <a:t>05 ·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13232"/>
            <a:ext cx="1083564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68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42236"/>
                </a:solidFill>
                <a:latin typeface="Arial"/>
              </a:rPr>
              <a:t>A pilot should measure benefits—not assume them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71016"/>
            <a:ext cx="10652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</a:pPr>
            <a:r>
              <a:rPr sz="1220" b="0" i="0">
                <a:solidFill>
                  <a:srgbClr val="5D6D80"/>
                </a:solidFill>
                <a:latin typeface="Arial"/>
              </a:rPr>
              <a:t>The public-value case is a hypothesis to test with drivers, passengers, and independent reviewers.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901952"/>
            <a:ext cx="5266944" cy="16276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23544" y="2157984"/>
            <a:ext cx="365760" cy="365760"/>
          </a:xfrm>
          <a:prstGeom prst="ellipse">
            <a:avLst/>
          </a:prstGeom>
          <a:solidFill>
            <a:srgbClr val="21C8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23544" y="2267712"/>
            <a:ext cx="36576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4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142236"/>
                </a:solidFill>
                <a:latin typeface="Arial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90472" y="2157984"/>
            <a:ext cx="409651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51"/>
              </a:lnSpc>
              <a:spcBef>
                <a:spcPts val="0"/>
              </a:spcBef>
              <a:spcAft>
                <a:spcPts val="0"/>
              </a:spcAft>
            </a:pPr>
            <a:r>
              <a:rPr sz="1230" b="1" i="0">
                <a:solidFill>
                  <a:srgbClr val="142236"/>
                </a:solidFill>
                <a:latin typeface="Arial"/>
              </a:rPr>
              <a:t>PICKUP CLARITY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90472" y="2560320"/>
            <a:ext cx="409651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74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5D6D80"/>
                </a:solidFill>
                <a:latin typeface="Arial"/>
              </a:rPr>
              <a:t>Can participants identify the intended rideshare vehicle accurately—and how long does it take?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45352" y="1901952"/>
            <a:ext cx="5266944" cy="16276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83096" y="2157984"/>
            <a:ext cx="365760" cy="365760"/>
          </a:xfrm>
          <a:prstGeom prst="ellipse">
            <a:avLst/>
          </a:prstGeom>
          <a:solidFill>
            <a:srgbClr val="FFB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83096" y="2267712"/>
            <a:ext cx="36576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4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142236"/>
                </a:solidFill>
                <a:latin typeface="Arial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50024" y="2157984"/>
            <a:ext cx="409651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51"/>
              </a:lnSpc>
              <a:spcBef>
                <a:spcPts val="0"/>
              </a:spcBef>
              <a:spcAft>
                <a:spcPts val="0"/>
              </a:spcAft>
            </a:pPr>
            <a:r>
              <a:rPr sz="1230" b="1" i="0">
                <a:solidFill>
                  <a:srgbClr val="142236"/>
                </a:solidFill>
                <a:latin typeface="Arial"/>
              </a:rPr>
              <a:t>MOTION-STATE RELIABILITY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50024" y="2560320"/>
            <a:ext cx="409651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74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5D6D80"/>
                </a:solidFill>
                <a:latin typeface="Arial"/>
              </a:rPr>
              <a:t>Does the screen blank promptly when movement begins and return only after the agreed stop period?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813048"/>
            <a:ext cx="5266944" cy="16276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23544" y="4069080"/>
            <a:ext cx="365760" cy="365760"/>
          </a:xfrm>
          <a:prstGeom prst="ellipse">
            <a:avLst/>
          </a:prstGeom>
          <a:solidFill>
            <a:srgbClr val="8BE7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3544" y="4178808"/>
            <a:ext cx="36576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4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142236"/>
                </a:solidFill>
                <a:latin typeface="Arial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90472" y="4069080"/>
            <a:ext cx="409651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51"/>
              </a:lnSpc>
              <a:spcBef>
                <a:spcPts val="0"/>
              </a:spcBef>
              <a:spcAft>
                <a:spcPts val="0"/>
              </a:spcAft>
            </a:pPr>
            <a:r>
              <a:rPr sz="1230" b="1" i="0">
                <a:solidFill>
                  <a:srgbClr val="142236"/>
                </a:solidFill>
                <a:latin typeface="Arial"/>
              </a:rPr>
              <a:t>DRIVER EXPERIENCE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90472" y="4471416"/>
            <a:ext cx="409651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74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5D6D80"/>
                </a:solidFill>
                <a:latin typeface="Arial"/>
              </a:rPr>
              <a:t>Is the app practical before a trip, without causing distraction, glare, or added workload?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45352" y="3813048"/>
            <a:ext cx="5266944" cy="16276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83096" y="4069080"/>
            <a:ext cx="365760" cy="365760"/>
          </a:xfrm>
          <a:prstGeom prst="ellipse">
            <a:avLst/>
          </a:prstGeom>
          <a:solidFill>
            <a:srgbClr val="EAF0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83096" y="4178808"/>
            <a:ext cx="36576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4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142236"/>
                </a:solidFill>
                <a:latin typeface="Arial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50024" y="4069080"/>
            <a:ext cx="409651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51"/>
              </a:lnSpc>
              <a:spcBef>
                <a:spcPts val="0"/>
              </a:spcBef>
              <a:spcAft>
                <a:spcPts val="0"/>
              </a:spcAft>
            </a:pPr>
            <a:r>
              <a:rPr sz="1230" b="1" i="0">
                <a:solidFill>
                  <a:srgbClr val="142236"/>
                </a:solidFill>
                <a:latin typeface="Arial"/>
              </a:rPr>
              <a:t>DEVICE RELIABILITY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50024" y="4471416"/>
            <a:ext cx="409651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74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5D6D80"/>
                </a:solidFill>
                <a:latin typeface="Arial"/>
              </a:rPr>
              <a:t>How well do pairing, charging, brightness, connectivity, and fault handling work in real conditions?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5715000"/>
            <a:ext cx="10826496" cy="438912"/>
          </a:xfrm>
          <a:prstGeom prst="roundRect">
            <a:avLst/>
          </a:prstGeom>
          <a:solidFill>
            <a:srgbClr val="0B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2688" y="5833872"/>
            <a:ext cx="1027785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156"/>
              </a:lnSpc>
              <a:spcBef>
                <a:spcPts val="0"/>
              </a:spcBef>
              <a:spcAft>
                <a:spcPts val="0"/>
              </a:spcAft>
            </a:pPr>
            <a:r>
              <a:rPr sz="980" b="1" i="0">
                <a:solidFill>
                  <a:srgbClr val="FFFFFF"/>
                </a:solidFill>
                <a:latin typeface="Arial"/>
              </a:rPr>
              <a:t>No safety, efficiency, or customer-experience benefit should be claimed until independently evaluated.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6547104"/>
            <a:ext cx="7315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0"/>
              </a:lnSpc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8A99A9"/>
                </a:solidFill>
                <a:latin typeface="Arial"/>
              </a:rPr>
              <a:t>RETROFLEX  ·  SPONSORSHIP DISCUSSION DRAFT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89920" y="6547104"/>
            <a:ext cx="7315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920"/>
              </a:lnSpc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8A99A9"/>
                </a:solidFill>
                <a:latin typeface="Arial"/>
              </a:rPr>
              <a:t>05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93192"/>
            <a:ext cx="10789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21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21C8B7"/>
                </a:solidFill>
                <a:latin typeface="Arial"/>
              </a:rPr>
              <a:t>06 · SPONSORSHIP CASE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13232"/>
            <a:ext cx="1083564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68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42236"/>
                </a:solidFill>
                <a:latin typeface="Arial"/>
              </a:rPr>
              <a:t>Why sponsor the feasibility stage?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71016"/>
            <a:ext cx="10652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</a:pPr>
            <a:r>
              <a:rPr sz="1220" b="0" i="0">
                <a:solidFill>
                  <a:srgbClr val="5D6D80"/>
                </a:solidFill>
                <a:latin typeface="Arial"/>
              </a:rPr>
              <a:t>A small, conditional investment can generate decision-quality evidence before any larger commitment.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901952"/>
            <a:ext cx="5266944" cy="16276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23544" y="2157984"/>
            <a:ext cx="365760" cy="365760"/>
          </a:xfrm>
          <a:prstGeom prst="ellipse">
            <a:avLst/>
          </a:prstGeom>
          <a:solidFill>
            <a:srgbClr val="21C8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23544" y="2267712"/>
            <a:ext cx="36576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4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142236"/>
                </a:solidFill>
                <a:latin typeface="Arial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90472" y="2157984"/>
            <a:ext cx="409651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80"/>
              </a:lnSpc>
              <a:spcBef>
                <a:spcPts val="0"/>
              </a:spcBef>
              <a:spcAft>
                <a:spcPts val="0"/>
              </a:spcAft>
            </a:pPr>
            <a:r>
              <a:rPr sz="1170" b="1" i="0">
                <a:solidFill>
                  <a:srgbClr val="142236"/>
                </a:solidFill>
                <a:latin typeface="Arial"/>
              </a:rPr>
              <a:t>EVIDENCE BEFORE DEPLOYMENT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90472" y="2560320"/>
            <a:ext cx="4096512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91"/>
              </a:lnSpc>
              <a:spcBef>
                <a:spcPts val="0"/>
              </a:spcBef>
              <a:spcAft>
                <a:spcPts val="0"/>
              </a:spcAft>
            </a:pPr>
            <a:r>
              <a:rPr sz="1010" b="0" i="0">
                <a:solidFill>
                  <a:srgbClr val="5D6D80"/>
                </a:solidFill>
                <a:latin typeface="Arial"/>
              </a:rPr>
              <a:t>Independently assess road safety, vehicle fit, privacy, usability, and cybersecurity before any on-road trial.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45352" y="1901952"/>
            <a:ext cx="5266944" cy="16276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83096" y="2157984"/>
            <a:ext cx="365760" cy="365760"/>
          </a:xfrm>
          <a:prstGeom prst="ellipse">
            <a:avLst/>
          </a:prstGeom>
          <a:solidFill>
            <a:srgbClr val="FFB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83096" y="2267712"/>
            <a:ext cx="36576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4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142236"/>
                </a:solidFill>
                <a:latin typeface="Arial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50024" y="2157984"/>
            <a:ext cx="409651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80"/>
              </a:lnSpc>
              <a:spcBef>
                <a:spcPts val="0"/>
              </a:spcBef>
              <a:spcAft>
                <a:spcPts val="0"/>
              </a:spcAft>
            </a:pPr>
            <a:r>
              <a:rPr sz="1170" b="1" i="0">
                <a:solidFill>
                  <a:srgbClr val="142236"/>
                </a:solidFill>
                <a:latin typeface="Arial"/>
              </a:rPr>
              <a:t>PUBLIC-INTEREST LEARNING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50024" y="2560320"/>
            <a:ext cx="4096512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91"/>
              </a:lnSpc>
              <a:spcBef>
                <a:spcPts val="0"/>
              </a:spcBef>
              <a:spcAft>
                <a:spcPts val="0"/>
              </a:spcAft>
            </a:pPr>
            <a:r>
              <a:rPr sz="1010" b="0" i="0">
                <a:solidFill>
                  <a:srgbClr val="5D6D80"/>
                </a:solidFill>
                <a:latin typeface="Arial"/>
              </a:rPr>
              <a:t>Measure pickup clarity, motion-state behavior, and driver experience using jointly agreed criteria.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813048"/>
            <a:ext cx="5266944" cy="16276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23544" y="4069080"/>
            <a:ext cx="365760" cy="365760"/>
          </a:xfrm>
          <a:prstGeom prst="ellipse">
            <a:avLst/>
          </a:prstGeom>
          <a:solidFill>
            <a:srgbClr val="8BE7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3544" y="4178808"/>
            <a:ext cx="36576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4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142236"/>
                </a:solidFill>
                <a:latin typeface="Arial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90472" y="4069080"/>
            <a:ext cx="409651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80"/>
              </a:lnSpc>
              <a:spcBef>
                <a:spcPts val="0"/>
              </a:spcBef>
              <a:spcAft>
                <a:spcPts val="0"/>
              </a:spcAft>
            </a:pPr>
            <a:r>
              <a:rPr sz="1170" b="1" i="0">
                <a:solidFill>
                  <a:srgbClr val="142236"/>
                </a:solidFill>
                <a:latin typeface="Arial"/>
              </a:rPr>
              <a:t>RISK REDUCTION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90472" y="4471416"/>
            <a:ext cx="4096512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91"/>
              </a:lnSpc>
              <a:spcBef>
                <a:spcPts val="0"/>
              </a:spcBef>
              <a:spcAft>
                <a:spcPts val="0"/>
              </a:spcAft>
            </a:pPr>
            <a:r>
              <a:rPr sz="1010" b="0" i="0">
                <a:solidFill>
                  <a:srgbClr val="5D6D80"/>
                </a:solidFill>
                <a:latin typeface="Arial"/>
              </a:rPr>
              <a:t>Identify legal, safety, technical, and cyber issues early; define mitigations and an appropriate pathway.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45352" y="3813048"/>
            <a:ext cx="5266944" cy="16276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83096" y="4069080"/>
            <a:ext cx="365760" cy="365760"/>
          </a:xfrm>
          <a:prstGeom prst="ellipse">
            <a:avLst/>
          </a:prstGeom>
          <a:solidFill>
            <a:srgbClr val="EAF0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83096" y="4178808"/>
            <a:ext cx="365760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4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142236"/>
                </a:solidFill>
                <a:latin typeface="Arial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50024" y="4069080"/>
            <a:ext cx="409651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80"/>
              </a:lnSpc>
              <a:spcBef>
                <a:spcPts val="0"/>
              </a:spcBef>
              <a:spcAft>
                <a:spcPts val="0"/>
              </a:spcAft>
            </a:pPr>
            <a:r>
              <a:rPr sz="1170" b="1" i="0">
                <a:solidFill>
                  <a:srgbClr val="142236"/>
                </a:solidFill>
                <a:latin typeface="Arial"/>
              </a:rPr>
              <a:t>NO LOCK-IN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50024" y="4471416"/>
            <a:ext cx="4096512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91"/>
              </a:lnSpc>
              <a:spcBef>
                <a:spcPts val="0"/>
              </a:spcBef>
              <a:spcAft>
                <a:spcPts val="0"/>
              </a:spcAft>
            </a:pPr>
            <a:r>
              <a:rPr sz="1010" b="0" i="0">
                <a:solidFill>
                  <a:srgbClr val="5D6D80"/>
                </a:solidFill>
                <a:latin typeface="Arial"/>
              </a:rPr>
              <a:t>Feasibility sponsorship does not commit government to procure, endorse, or roll out the product; it creates a clear go/no-go decision.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5715000"/>
            <a:ext cx="10826496" cy="438912"/>
          </a:xfrm>
          <a:prstGeom prst="roundRect">
            <a:avLst/>
          </a:prstGeom>
          <a:solidFill>
            <a:srgbClr val="0B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2688" y="5833872"/>
            <a:ext cx="1027785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121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Arial"/>
              </a:rPr>
              <a:t>Sponsorship funds learning and risk reduction; any deployment remains evidence-led and separately approved.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6547104"/>
            <a:ext cx="7315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0"/>
              </a:lnSpc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8A99A9"/>
                </a:solidFill>
                <a:latin typeface="Arial"/>
              </a:rPr>
              <a:t>RETROFLEX  ·  SPONSORSHIP DISCUSSION DRAFT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89920" y="6547104"/>
            <a:ext cx="7315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920"/>
              </a:lnSpc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8A99A9"/>
                </a:solidFill>
                <a:latin typeface="Arial"/>
              </a:rPr>
              <a:t>06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93192"/>
            <a:ext cx="10789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21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21C8B7"/>
                </a:solidFill>
                <a:latin typeface="Arial"/>
              </a:rPr>
              <a:t>07 · RISK AND READINESS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13232"/>
            <a:ext cx="1083564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68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42236"/>
                </a:solidFill>
                <a:latin typeface="Arial"/>
              </a:rPr>
              <a:t>Safety, privacy, and cyber review come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71016"/>
            <a:ext cx="10652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</a:pPr>
            <a:r>
              <a:rPr sz="1220" b="0" i="0">
                <a:solidFill>
                  <a:srgbClr val="5D6D80"/>
                </a:solidFill>
                <a:latin typeface="Arial"/>
              </a:rPr>
              <a:t>The prototype is pre-pilot. Independent assessment and written approvals come before any road deployment.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56231"/>
            <a:ext cx="5266944" cy="43159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36208" y="1856231"/>
            <a:ext cx="5266944" cy="43159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112263"/>
            <a:ext cx="471830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34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42236"/>
                </a:solidFill>
                <a:latin typeface="Arial"/>
              </a:rPr>
              <a:t>ROAD &amp; VEHICLE SAFETY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76088" y="2103120"/>
            <a:ext cx="34747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062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78D81"/>
                </a:solidFill>
                <a:latin typeface="Arial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10528" y="2112263"/>
            <a:ext cx="471830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34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42236"/>
                </a:solidFill>
                <a:latin typeface="Arial"/>
              </a:rPr>
              <a:t>CYBERSECURITY &amp; PRIVACY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26496" y="2103120"/>
            <a:ext cx="34747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062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78D81"/>
                </a:solidFill>
                <a:latin typeface="Arial"/>
              </a:rPr>
              <a:t>02</a:t>
            </a:r>
          </a:p>
        </p:txBody>
      </p:sp>
      <p:sp>
        <p:nvSpPr>
          <p:cNvPr id="11" name="Oval 10"/>
          <p:cNvSpPr/>
          <p:nvPr/>
        </p:nvSpPr>
        <p:spPr>
          <a:xfrm>
            <a:off x="969264" y="2711196"/>
            <a:ext cx="96012" cy="96012"/>
          </a:xfrm>
          <a:prstGeom prst="ellipse">
            <a:avLst/>
          </a:prstGeom>
          <a:solidFill>
            <a:srgbClr val="21C8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70432" y="2633472"/>
            <a:ext cx="4498848" cy="6309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27"/>
              </a:lnSpc>
              <a:spcBef>
                <a:spcPts val="0"/>
              </a:spcBef>
              <a:spcAft>
                <a:spcPts val="0"/>
              </a:spcAft>
            </a:pPr>
            <a:r>
              <a:rPr sz="1040" b="0" i="0">
                <a:solidFill>
                  <a:srgbClr val="142236"/>
                </a:solidFill>
                <a:latin typeface="Arial"/>
              </a:rPr>
              <a:t>Confirm the road-rule, vehicle-standard, and signage pathway before any public-road use.</a:t>
            </a:r>
          </a:p>
        </p:txBody>
      </p:sp>
      <p:sp>
        <p:nvSpPr>
          <p:cNvPr id="13" name="Oval 12"/>
          <p:cNvSpPr/>
          <p:nvPr/>
        </p:nvSpPr>
        <p:spPr>
          <a:xfrm>
            <a:off x="969264" y="3506724"/>
            <a:ext cx="96012" cy="96012"/>
          </a:xfrm>
          <a:prstGeom prst="ellipse">
            <a:avLst/>
          </a:prstGeom>
          <a:solidFill>
            <a:srgbClr val="21C8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70432" y="3429000"/>
            <a:ext cx="4498848" cy="6309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27"/>
              </a:lnSpc>
              <a:spcBef>
                <a:spcPts val="0"/>
              </a:spcBef>
              <a:spcAft>
                <a:spcPts val="0"/>
              </a:spcAft>
            </a:pPr>
            <a:r>
              <a:rPr sz="1040" b="0" i="0">
                <a:solidFill>
                  <a:srgbClr val="142236"/>
                </a:solidFill>
                <a:latin typeface="Arial"/>
              </a:rPr>
              <a:t>Assess field of view, distraction, glare/night visibility, mounting, wiring, and occupant safety.</a:t>
            </a:r>
          </a:p>
        </p:txBody>
      </p:sp>
      <p:sp>
        <p:nvSpPr>
          <p:cNvPr id="15" name="Oval 14"/>
          <p:cNvSpPr/>
          <p:nvPr/>
        </p:nvSpPr>
        <p:spPr>
          <a:xfrm>
            <a:off x="969264" y="4302252"/>
            <a:ext cx="96012" cy="96012"/>
          </a:xfrm>
          <a:prstGeom prst="ellipse">
            <a:avLst/>
          </a:prstGeom>
          <a:solidFill>
            <a:srgbClr val="21C8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70432" y="4224528"/>
            <a:ext cx="4498848" cy="6309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27"/>
              </a:lnSpc>
              <a:spcBef>
                <a:spcPts val="0"/>
              </a:spcBef>
              <a:spcAft>
                <a:spcPts val="0"/>
              </a:spcAft>
            </a:pPr>
            <a:r>
              <a:rPr sz="1040" b="0" i="0">
                <a:solidFill>
                  <a:srgbClr val="142236"/>
                </a:solidFill>
                <a:latin typeface="Arial"/>
              </a:rPr>
              <a:t>Validate blanking on motion and on sensor, connection, or system faults.</a:t>
            </a:r>
          </a:p>
        </p:txBody>
      </p:sp>
      <p:sp>
        <p:nvSpPr>
          <p:cNvPr id="17" name="Oval 16"/>
          <p:cNvSpPr/>
          <p:nvPr/>
        </p:nvSpPr>
        <p:spPr>
          <a:xfrm>
            <a:off x="969264" y="5097780"/>
            <a:ext cx="96012" cy="96012"/>
          </a:xfrm>
          <a:prstGeom prst="ellipse">
            <a:avLst/>
          </a:prstGeom>
          <a:solidFill>
            <a:srgbClr val="21C8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70432" y="5020056"/>
            <a:ext cx="4498848" cy="6309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27"/>
              </a:lnSpc>
              <a:spcBef>
                <a:spcPts val="0"/>
              </a:spcBef>
              <a:spcAft>
                <a:spcPts val="0"/>
              </a:spcAft>
            </a:pPr>
            <a:r>
              <a:rPr sz="1040" b="0" i="0">
                <a:solidFill>
                  <a:srgbClr val="142236"/>
                </a:solidFill>
                <a:latin typeface="Arial"/>
              </a:rPr>
              <a:t>Phase one: authorized ride identifiers only—no ads, QR, video, animation, or audio.</a:t>
            </a:r>
          </a:p>
        </p:txBody>
      </p:sp>
      <p:sp>
        <p:nvSpPr>
          <p:cNvPr id="19" name="Oval 18"/>
          <p:cNvSpPr/>
          <p:nvPr/>
        </p:nvSpPr>
        <p:spPr>
          <a:xfrm>
            <a:off x="6519672" y="2711196"/>
            <a:ext cx="96012" cy="96012"/>
          </a:xfrm>
          <a:prstGeom prst="ellipse">
            <a:avLst/>
          </a:prstGeom>
          <a:solidFill>
            <a:srgbClr val="21C8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20840" y="2633472"/>
            <a:ext cx="4498848" cy="6309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27"/>
              </a:lnSpc>
              <a:spcBef>
                <a:spcPts val="0"/>
              </a:spcBef>
              <a:spcAft>
                <a:spcPts val="0"/>
              </a:spcAft>
            </a:pPr>
            <a:r>
              <a:rPr sz="1040" b="0" i="0">
                <a:solidFill>
                  <a:srgbClr val="142236"/>
                </a:solidFill>
                <a:latin typeface="Arial"/>
              </a:rPr>
              <a:t>Test device pairing, authentication, access control, command integrity, and data protection.</a:t>
            </a:r>
          </a:p>
        </p:txBody>
      </p:sp>
      <p:sp>
        <p:nvSpPr>
          <p:cNvPr id="21" name="Oval 20"/>
          <p:cNvSpPr/>
          <p:nvPr/>
        </p:nvSpPr>
        <p:spPr>
          <a:xfrm>
            <a:off x="6519672" y="3506724"/>
            <a:ext cx="96012" cy="96012"/>
          </a:xfrm>
          <a:prstGeom prst="ellipse">
            <a:avLst/>
          </a:prstGeom>
          <a:solidFill>
            <a:srgbClr val="21C8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20840" y="3429000"/>
            <a:ext cx="4498848" cy="6309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27"/>
              </a:lnSpc>
              <a:spcBef>
                <a:spcPts val="0"/>
              </a:spcBef>
              <a:spcAft>
                <a:spcPts val="0"/>
              </a:spcAft>
            </a:pPr>
            <a:r>
              <a:rPr sz="1040" b="0" i="0">
                <a:solidFill>
                  <a:srgbClr val="142236"/>
                </a:solidFill>
                <a:latin typeface="Arial"/>
              </a:rPr>
              <a:t>Review backend access, software updates, logging, resilience, and outage behavior.</a:t>
            </a:r>
          </a:p>
        </p:txBody>
      </p:sp>
      <p:sp>
        <p:nvSpPr>
          <p:cNvPr id="23" name="Oval 22"/>
          <p:cNvSpPr/>
          <p:nvPr/>
        </p:nvSpPr>
        <p:spPr>
          <a:xfrm>
            <a:off x="6519672" y="4302252"/>
            <a:ext cx="96012" cy="96012"/>
          </a:xfrm>
          <a:prstGeom prst="ellipse">
            <a:avLst/>
          </a:prstGeom>
          <a:solidFill>
            <a:srgbClr val="21C8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20840" y="4224528"/>
            <a:ext cx="4498848" cy="6309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27"/>
              </a:lnSpc>
              <a:spcBef>
                <a:spcPts val="0"/>
              </a:spcBef>
              <a:spcAft>
                <a:spcPts val="0"/>
              </a:spcAft>
            </a:pPr>
            <a:r>
              <a:rPr sz="1040" b="0" i="0">
                <a:solidFill>
                  <a:srgbClr val="142236"/>
                </a:solidFill>
                <a:latin typeface="Arial"/>
              </a:rPr>
              <a:t>Threat-model and penetration-test; close critical findings before a live pilot.</a:t>
            </a:r>
          </a:p>
        </p:txBody>
      </p:sp>
      <p:sp>
        <p:nvSpPr>
          <p:cNvPr id="25" name="Oval 24"/>
          <p:cNvSpPr/>
          <p:nvPr/>
        </p:nvSpPr>
        <p:spPr>
          <a:xfrm>
            <a:off x="6519672" y="5097780"/>
            <a:ext cx="96012" cy="96012"/>
          </a:xfrm>
          <a:prstGeom prst="ellipse">
            <a:avLst/>
          </a:prstGeom>
          <a:solidFill>
            <a:srgbClr val="21C8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20840" y="5020056"/>
            <a:ext cx="4498848" cy="6309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27"/>
              </a:lnSpc>
              <a:spcBef>
                <a:spcPts val="0"/>
              </a:spcBef>
              <a:spcAft>
                <a:spcPts val="0"/>
              </a:spcAft>
            </a:pPr>
            <a:r>
              <a:rPr sz="1040" b="0" i="0">
                <a:solidFill>
                  <a:srgbClr val="142236"/>
                </a:solidFill>
                <a:latin typeface="Arial"/>
              </a:rPr>
              <a:t>Minimize data; define consent, retention, privacy, and incident-response controls.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3232" y="6272784"/>
            <a:ext cx="106984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55"/>
              </a:lnSpc>
              <a:spcBef>
                <a:spcPts val="0"/>
              </a:spcBef>
              <a:spcAft>
                <a:spcPts val="0"/>
              </a:spcAft>
            </a:pPr>
            <a:r>
              <a:rPr sz="810" b="0" i="1">
                <a:solidFill>
                  <a:srgbClr val="5D6D80"/>
                </a:solidFill>
                <a:latin typeface="Arial"/>
              </a:rPr>
              <a:t>Proposed controls—not evidence of compliance or certification. Effectiveness must be independently verified.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6547104"/>
            <a:ext cx="7315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0"/>
              </a:lnSpc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8A99A9"/>
                </a:solidFill>
                <a:latin typeface="Arial"/>
              </a:rPr>
              <a:t>RETROFLEX  ·  SPONSORSHIP DISCUSSION DRAFT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89920" y="6547104"/>
            <a:ext cx="7315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920"/>
              </a:lnSpc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8A99A9"/>
                </a:solidFill>
                <a:latin typeface="Arial"/>
              </a:rPr>
              <a:t>07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93192"/>
            <a:ext cx="10789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21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21C8B7"/>
                </a:solidFill>
                <a:latin typeface="Arial"/>
              </a:rPr>
              <a:t>08 · DELIVERY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13232"/>
            <a:ext cx="1083564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68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42236"/>
                </a:solidFill>
                <a:latin typeface="Arial"/>
              </a:rPr>
              <a:t>Three gates from demonstrator to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71016"/>
            <a:ext cx="10652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</a:pPr>
            <a:r>
              <a:rPr sz="1220" b="0" i="0">
                <a:solidFill>
                  <a:srgbClr val="5D6D80"/>
                </a:solidFill>
                <a:latin typeface="Arial"/>
              </a:rPr>
              <a:t>Proceed only with written approvals, agreed measures, and a clear stop/rollback process.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65376"/>
            <a:ext cx="342900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865376"/>
            <a:ext cx="3429000" cy="91440"/>
          </a:xfrm>
          <a:prstGeom prst="roundRect">
            <a:avLst/>
          </a:prstGeom>
          <a:solidFill>
            <a:srgbClr val="21C8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2121408"/>
            <a:ext cx="566928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95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21C8B7"/>
                </a:solidFill>
                <a:latin typeface="Arial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578608"/>
            <a:ext cx="290779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52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42236"/>
                </a:solidFill>
                <a:latin typeface="Arial"/>
              </a:rPr>
              <a:t>CO-DESIGN &amp;</a:t>
            </a:r>
          </a:p>
          <a:p>
            <a:pPr algn="l">
              <a:lnSpc>
                <a:spcPts val="1652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42236"/>
                </a:solidFill>
                <a:latin typeface="Arial"/>
              </a:rPr>
              <a:t>FEASIBILITY</a:t>
            </a:r>
          </a:p>
        </p:txBody>
      </p:sp>
      <p:sp>
        <p:nvSpPr>
          <p:cNvPr id="9" name="Oval 8"/>
          <p:cNvSpPr/>
          <p:nvPr/>
        </p:nvSpPr>
        <p:spPr>
          <a:xfrm>
            <a:off x="941832" y="3396996"/>
            <a:ext cx="96012" cy="96012"/>
          </a:xfrm>
          <a:prstGeom prst="ellipse">
            <a:avLst/>
          </a:prstGeom>
          <a:solidFill>
            <a:srgbClr val="21C8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3319272"/>
            <a:ext cx="2706624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56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142236"/>
                </a:solidFill>
                <a:latin typeface="Arial"/>
              </a:rPr>
              <a:t>Name a sponsor and working group.</a:t>
            </a:r>
          </a:p>
        </p:txBody>
      </p:sp>
      <p:sp>
        <p:nvSpPr>
          <p:cNvPr id="11" name="Oval 10"/>
          <p:cNvSpPr/>
          <p:nvPr/>
        </p:nvSpPr>
        <p:spPr>
          <a:xfrm>
            <a:off x="941832" y="4101084"/>
            <a:ext cx="96012" cy="96012"/>
          </a:xfrm>
          <a:prstGeom prst="ellipse">
            <a:avLst/>
          </a:prstGeom>
          <a:solidFill>
            <a:srgbClr val="21C8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4023360"/>
            <a:ext cx="2706624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56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142236"/>
                </a:solidFill>
                <a:latin typeface="Arial"/>
              </a:rPr>
              <a:t>Map rules, dependencies, stakeholders, and risks.</a:t>
            </a:r>
          </a:p>
        </p:txBody>
      </p:sp>
      <p:sp>
        <p:nvSpPr>
          <p:cNvPr id="13" name="Oval 12"/>
          <p:cNvSpPr/>
          <p:nvPr/>
        </p:nvSpPr>
        <p:spPr>
          <a:xfrm>
            <a:off x="941832" y="4805172"/>
            <a:ext cx="96012" cy="96012"/>
          </a:xfrm>
          <a:prstGeom prst="ellipse">
            <a:avLst/>
          </a:prstGeom>
          <a:solidFill>
            <a:srgbClr val="21C8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3000" y="4727448"/>
            <a:ext cx="2706624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56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142236"/>
                </a:solidFill>
                <a:latin typeface="Arial"/>
              </a:rPr>
              <a:t>Agree independent reviewers and decision criteria.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79976" y="1865376"/>
            <a:ext cx="342900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379976" y="1865376"/>
            <a:ext cx="3429000" cy="91440"/>
          </a:xfrm>
          <a:prstGeom prst="roundRect">
            <a:avLst/>
          </a:prstGeom>
          <a:solidFill>
            <a:srgbClr val="FFB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26864" y="2121408"/>
            <a:ext cx="566928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95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D78432"/>
                </a:solidFill>
                <a:latin typeface="Arial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26864" y="2578608"/>
            <a:ext cx="290779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52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42236"/>
                </a:solidFill>
                <a:latin typeface="Arial"/>
              </a:rPr>
              <a:t>BENCH &amp; OFF-ROAD</a:t>
            </a:r>
          </a:p>
          <a:p>
            <a:pPr algn="l">
              <a:lnSpc>
                <a:spcPts val="1652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42236"/>
                </a:solidFill>
                <a:latin typeface="Arial"/>
              </a:rPr>
              <a:t>VERIFICATION</a:t>
            </a:r>
          </a:p>
        </p:txBody>
      </p:sp>
      <p:sp>
        <p:nvSpPr>
          <p:cNvPr id="19" name="Oval 18"/>
          <p:cNvSpPr/>
          <p:nvPr/>
        </p:nvSpPr>
        <p:spPr>
          <a:xfrm>
            <a:off x="4636008" y="3396996"/>
            <a:ext cx="96012" cy="96012"/>
          </a:xfrm>
          <a:prstGeom prst="ellipse">
            <a:avLst/>
          </a:prstGeom>
          <a:solidFill>
            <a:srgbClr val="21C8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37176" y="3319272"/>
            <a:ext cx="2706624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56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142236"/>
                </a:solidFill>
                <a:latin typeface="Arial"/>
              </a:rPr>
              <a:t>Prove speed threshold, blanking, reactivation, and fault behavior.</a:t>
            </a:r>
          </a:p>
        </p:txBody>
      </p:sp>
      <p:sp>
        <p:nvSpPr>
          <p:cNvPr id="21" name="Oval 20"/>
          <p:cNvSpPr/>
          <p:nvPr/>
        </p:nvSpPr>
        <p:spPr>
          <a:xfrm>
            <a:off x="4636008" y="4101084"/>
            <a:ext cx="96012" cy="96012"/>
          </a:xfrm>
          <a:prstGeom prst="ellipse">
            <a:avLst/>
          </a:prstGeom>
          <a:solidFill>
            <a:srgbClr val="21C8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37176" y="4023360"/>
            <a:ext cx="2706624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56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142236"/>
                </a:solidFill>
                <a:latin typeface="Arial"/>
              </a:rPr>
              <a:t>Test brightness, power, mounting, and device compatibility.</a:t>
            </a:r>
          </a:p>
        </p:txBody>
      </p:sp>
      <p:sp>
        <p:nvSpPr>
          <p:cNvPr id="23" name="Oval 22"/>
          <p:cNvSpPr/>
          <p:nvPr/>
        </p:nvSpPr>
        <p:spPr>
          <a:xfrm>
            <a:off x="4636008" y="4805172"/>
            <a:ext cx="96012" cy="96012"/>
          </a:xfrm>
          <a:prstGeom prst="ellipse">
            <a:avLst/>
          </a:prstGeom>
          <a:solidFill>
            <a:srgbClr val="21C8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37176" y="4727448"/>
            <a:ext cx="2706624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56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142236"/>
                </a:solidFill>
                <a:latin typeface="Arial"/>
              </a:rPr>
              <a:t>Complete privacy and cybersecurity assessment.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74152" y="1865376"/>
            <a:ext cx="342900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074152" y="1865376"/>
            <a:ext cx="3429000" cy="91440"/>
          </a:xfrm>
          <a:prstGeom prst="roundRect">
            <a:avLst/>
          </a:prstGeom>
          <a:solidFill>
            <a:srgbClr val="8BE7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21040" y="2121408"/>
            <a:ext cx="566928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95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78D81"/>
                </a:solidFill>
                <a:latin typeface="Arial"/>
              </a:rPr>
              <a:t>03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0" y="2578608"/>
            <a:ext cx="290779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52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42236"/>
                </a:solidFill>
                <a:latin typeface="Arial"/>
              </a:rPr>
              <a:t>CONTROLLED, OPT-IN</a:t>
            </a:r>
          </a:p>
          <a:p>
            <a:pPr algn="l">
              <a:lnSpc>
                <a:spcPts val="1652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42236"/>
                </a:solidFill>
                <a:latin typeface="Arial"/>
              </a:rPr>
              <a:t>EVALUATION</a:t>
            </a:r>
          </a:p>
        </p:txBody>
      </p:sp>
      <p:sp>
        <p:nvSpPr>
          <p:cNvPr id="29" name="Oval 28"/>
          <p:cNvSpPr/>
          <p:nvPr/>
        </p:nvSpPr>
        <p:spPr>
          <a:xfrm>
            <a:off x="8330183" y="3396996"/>
            <a:ext cx="96012" cy="96012"/>
          </a:xfrm>
          <a:prstGeom prst="ellipse">
            <a:avLst/>
          </a:prstGeom>
          <a:solidFill>
            <a:srgbClr val="21C8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531352" y="3319272"/>
            <a:ext cx="2706624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56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142236"/>
                </a:solidFill>
                <a:latin typeface="Arial"/>
              </a:rPr>
              <a:t>Proceed only under written approvals and agreed conditions.</a:t>
            </a:r>
          </a:p>
        </p:txBody>
      </p:sp>
      <p:sp>
        <p:nvSpPr>
          <p:cNvPr id="31" name="Oval 30"/>
          <p:cNvSpPr/>
          <p:nvPr/>
        </p:nvSpPr>
        <p:spPr>
          <a:xfrm>
            <a:off x="8330183" y="4101084"/>
            <a:ext cx="96012" cy="96012"/>
          </a:xfrm>
          <a:prstGeom prst="ellipse">
            <a:avLst/>
          </a:prstGeom>
          <a:solidFill>
            <a:srgbClr val="21C8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31352" y="4023360"/>
            <a:ext cx="2706624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56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142236"/>
                </a:solidFill>
                <a:latin typeface="Arial"/>
              </a:rPr>
              <a:t>Keep required physical identifiers in place.</a:t>
            </a:r>
          </a:p>
        </p:txBody>
      </p:sp>
      <p:sp>
        <p:nvSpPr>
          <p:cNvPr id="33" name="Oval 32"/>
          <p:cNvSpPr/>
          <p:nvPr/>
        </p:nvSpPr>
        <p:spPr>
          <a:xfrm>
            <a:off x="8330183" y="4805172"/>
            <a:ext cx="96012" cy="96012"/>
          </a:xfrm>
          <a:prstGeom prst="ellipse">
            <a:avLst/>
          </a:prstGeom>
          <a:solidFill>
            <a:srgbClr val="21C8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531352" y="4727448"/>
            <a:ext cx="2706624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56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142236"/>
                </a:solidFill>
                <a:latin typeface="Arial"/>
              </a:rPr>
              <a:t>Monitor outcomes; report openly and retain rollback ability.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85800" y="5852160"/>
            <a:ext cx="10817352" cy="384048"/>
          </a:xfrm>
          <a:prstGeom prst="roundRect">
            <a:avLst/>
          </a:prstGeom>
          <a:solidFill>
            <a:srgbClr val="E5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77824" y="5952744"/>
            <a:ext cx="1042416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73"/>
              </a:lnSpc>
              <a:spcBef>
                <a:spcPts val="0"/>
              </a:spcBef>
              <a:spcAft>
                <a:spcPts val="0"/>
              </a:spcAft>
            </a:pPr>
            <a:r>
              <a:rPr sz="910" b="1" i="0">
                <a:solidFill>
                  <a:srgbClr val="176F69"/>
                </a:solidFill>
                <a:latin typeface="Arial"/>
              </a:rPr>
              <a:t>Pilot size, duration, and location are decided jointly after the feasibility and verification gates.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" y="6547104"/>
            <a:ext cx="7315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0"/>
              </a:lnSpc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8A99A9"/>
                </a:solidFill>
                <a:latin typeface="Arial"/>
              </a:rPr>
              <a:t>RETROFLEX  ·  SPONSORSHIP DISCUSSION DRAFT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789920" y="6547104"/>
            <a:ext cx="7315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920"/>
              </a:lnSpc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8A99A9"/>
                </a:solidFill>
                <a:latin typeface="Arial"/>
              </a:rPr>
              <a:t>08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93192"/>
            <a:ext cx="10789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21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21C8B7"/>
                </a:solidFill>
                <a:latin typeface="Arial"/>
              </a:rPr>
              <a:t>09 · PARTNERSHIP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13232"/>
            <a:ext cx="1083564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68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rial"/>
              </a:rPr>
              <a:t>A co-work model with independent oversight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71016"/>
            <a:ext cx="10652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</a:pPr>
            <a:r>
              <a:rPr sz="1220" b="0" i="0">
                <a:solidFill>
                  <a:srgbClr val="9BAABE"/>
                </a:solidFill>
                <a:latin typeface="Arial"/>
              </a:rPr>
              <a:t>A practical arrangement that shares the evidence and keeps decision rights clear.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874519"/>
            <a:ext cx="5266944" cy="3593592"/>
          </a:xfrm>
          <a:prstGeom prst="roundRect">
            <a:avLst/>
          </a:prstGeom>
          <a:solidFill>
            <a:srgbClr val="111F33"/>
          </a:solidFill>
          <a:ln w="12700">
            <a:solidFill>
              <a:srgbClr val="1A2B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36208" y="1874519"/>
            <a:ext cx="5266944" cy="3593592"/>
          </a:xfrm>
          <a:prstGeom prst="roundRect">
            <a:avLst/>
          </a:prstGeom>
          <a:solidFill>
            <a:srgbClr val="111F33"/>
          </a:solidFill>
          <a:ln w="12700">
            <a:solidFill>
              <a:srgbClr val="1A2B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130552"/>
            <a:ext cx="471830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45"/>
              </a:lnSpc>
              <a:spcBef>
                <a:spcPts val="0"/>
              </a:spcBef>
              <a:spcAft>
                <a:spcPts val="0"/>
              </a:spcAft>
            </a:pPr>
            <a:r>
              <a:rPr sz="1140" b="1" i="0">
                <a:solidFill>
                  <a:srgbClr val="21C8B7"/>
                </a:solidFill>
                <a:latin typeface="Arial"/>
              </a:rPr>
              <a:t>WHAT WE’RE ASKING TfNSW TO CONSIDER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10528" y="2130552"/>
            <a:ext cx="471830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45"/>
              </a:lnSpc>
              <a:spcBef>
                <a:spcPts val="0"/>
              </a:spcBef>
              <a:spcAft>
                <a:spcPts val="0"/>
              </a:spcAft>
            </a:pPr>
            <a:r>
              <a:rPr sz="1140" b="1" i="0">
                <a:solidFill>
                  <a:srgbClr val="8BE7D8"/>
                </a:solidFill>
                <a:latin typeface="Arial"/>
              </a:rPr>
              <a:t>WHAT THE PROJECT TEAM CAN CONTRIBUTE</a:t>
            </a:r>
          </a:p>
        </p:txBody>
      </p:sp>
      <p:sp>
        <p:nvSpPr>
          <p:cNvPr id="10" name="Oval 9"/>
          <p:cNvSpPr/>
          <p:nvPr/>
        </p:nvSpPr>
        <p:spPr>
          <a:xfrm>
            <a:off x="978408" y="2702051"/>
            <a:ext cx="96012" cy="96012"/>
          </a:xfrm>
          <a:prstGeom prst="ellipse">
            <a:avLst/>
          </a:prstGeom>
          <a:solidFill>
            <a:srgbClr val="21C8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79576" y="2624327"/>
            <a:ext cx="448056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09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FFFFFF"/>
                </a:solidFill>
                <a:latin typeface="Arial"/>
              </a:rPr>
              <a:t>Nominate a sponsor or appropriate program contact.</a:t>
            </a:r>
          </a:p>
        </p:txBody>
      </p:sp>
      <p:sp>
        <p:nvSpPr>
          <p:cNvPr id="12" name="Oval 11"/>
          <p:cNvSpPr/>
          <p:nvPr/>
        </p:nvSpPr>
        <p:spPr>
          <a:xfrm>
            <a:off x="978408" y="3223259"/>
            <a:ext cx="96012" cy="96012"/>
          </a:xfrm>
          <a:prstGeom prst="ellipse">
            <a:avLst/>
          </a:prstGeom>
          <a:solidFill>
            <a:srgbClr val="21C8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79576" y="3145535"/>
            <a:ext cx="448056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09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FFFFFF"/>
                </a:solidFill>
                <a:latin typeface="Arial"/>
              </a:rPr>
              <a:t>Connect relevant safety, vehicle-standards, digital, privacy, and cyber teams.</a:t>
            </a:r>
          </a:p>
        </p:txBody>
      </p:sp>
      <p:sp>
        <p:nvSpPr>
          <p:cNvPr id="14" name="Oval 13"/>
          <p:cNvSpPr/>
          <p:nvPr/>
        </p:nvSpPr>
        <p:spPr>
          <a:xfrm>
            <a:off x="978408" y="3744468"/>
            <a:ext cx="96012" cy="96012"/>
          </a:xfrm>
          <a:prstGeom prst="ellipse">
            <a:avLst/>
          </a:prstGeom>
          <a:solidFill>
            <a:srgbClr val="21C8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79576" y="3666744"/>
            <a:ext cx="448056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09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FFFFFF"/>
                </a:solidFill>
                <a:latin typeface="Arial"/>
              </a:rPr>
              <a:t>Co-design requirements, approval pathway, measures, and pilot conditions.</a:t>
            </a:r>
          </a:p>
        </p:txBody>
      </p:sp>
      <p:sp>
        <p:nvSpPr>
          <p:cNvPr id="16" name="Oval 15"/>
          <p:cNvSpPr/>
          <p:nvPr/>
        </p:nvSpPr>
        <p:spPr>
          <a:xfrm>
            <a:off x="978408" y="4265676"/>
            <a:ext cx="96012" cy="96012"/>
          </a:xfrm>
          <a:prstGeom prst="ellipse">
            <a:avLst/>
          </a:prstGeom>
          <a:solidFill>
            <a:srgbClr val="21C8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79576" y="4187952"/>
            <a:ext cx="448056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09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FFFFFF"/>
                </a:solidFill>
                <a:latin typeface="Arial"/>
              </a:rPr>
              <a:t>Consider support for independent assessment if the feasibility case proceeds.</a:t>
            </a:r>
          </a:p>
        </p:txBody>
      </p:sp>
      <p:sp>
        <p:nvSpPr>
          <p:cNvPr id="18" name="Oval 17"/>
          <p:cNvSpPr/>
          <p:nvPr/>
        </p:nvSpPr>
        <p:spPr>
          <a:xfrm>
            <a:off x="978408" y="4786883"/>
            <a:ext cx="96012" cy="96012"/>
          </a:xfrm>
          <a:prstGeom prst="ellipse">
            <a:avLst/>
          </a:prstGeom>
          <a:solidFill>
            <a:srgbClr val="21C8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79576" y="4709159"/>
            <a:ext cx="448056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09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FFFFFF"/>
                </a:solidFill>
                <a:latin typeface="Arial"/>
              </a:rPr>
              <a:t>Advise whether an eligible innovation grant, prize, or project-originator award is available.</a:t>
            </a:r>
          </a:p>
        </p:txBody>
      </p:sp>
      <p:sp>
        <p:nvSpPr>
          <p:cNvPr id="20" name="Oval 19"/>
          <p:cNvSpPr/>
          <p:nvPr/>
        </p:nvSpPr>
        <p:spPr>
          <a:xfrm>
            <a:off x="6528816" y="2756915"/>
            <a:ext cx="96012" cy="96012"/>
          </a:xfrm>
          <a:prstGeom prst="ellipse">
            <a:avLst/>
          </a:prstGeom>
          <a:solidFill>
            <a:srgbClr val="21C8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29984" y="2679191"/>
            <a:ext cx="4480560" cy="5212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8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Arial"/>
              </a:rPr>
              <a:t>Provide the working demonstrator and live walkthrough.</a:t>
            </a:r>
          </a:p>
        </p:txBody>
      </p:sp>
      <p:sp>
        <p:nvSpPr>
          <p:cNvPr id="22" name="Oval 21"/>
          <p:cNvSpPr/>
          <p:nvPr/>
        </p:nvSpPr>
        <p:spPr>
          <a:xfrm>
            <a:off x="6528816" y="3369563"/>
            <a:ext cx="96012" cy="96012"/>
          </a:xfrm>
          <a:prstGeom prst="ellipse">
            <a:avLst/>
          </a:prstGeom>
          <a:solidFill>
            <a:srgbClr val="21C8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29984" y="3291839"/>
            <a:ext cx="4480560" cy="5212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8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Arial"/>
              </a:rPr>
              <a:t>Supply product requirements, Android build, test evidence, and engineering support.</a:t>
            </a:r>
          </a:p>
        </p:txBody>
      </p:sp>
      <p:sp>
        <p:nvSpPr>
          <p:cNvPr id="24" name="Oval 23"/>
          <p:cNvSpPr/>
          <p:nvPr/>
        </p:nvSpPr>
        <p:spPr>
          <a:xfrm>
            <a:off x="6528816" y="3982211"/>
            <a:ext cx="96012" cy="96012"/>
          </a:xfrm>
          <a:prstGeom prst="ellipse">
            <a:avLst/>
          </a:prstGeom>
          <a:solidFill>
            <a:srgbClr val="21C8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29984" y="3904487"/>
            <a:ext cx="4480560" cy="5212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8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Arial"/>
              </a:rPr>
              <a:t>Iterate against approved constraints and independent recommendations.</a:t>
            </a:r>
          </a:p>
        </p:txBody>
      </p:sp>
      <p:sp>
        <p:nvSpPr>
          <p:cNvPr id="26" name="Oval 25"/>
          <p:cNvSpPr/>
          <p:nvPr/>
        </p:nvSpPr>
        <p:spPr>
          <a:xfrm>
            <a:off x="6528816" y="4594859"/>
            <a:ext cx="96012" cy="96012"/>
          </a:xfrm>
          <a:prstGeom prst="ellipse">
            <a:avLst/>
          </a:prstGeom>
          <a:solidFill>
            <a:srgbClr val="21C8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29984" y="4517136"/>
            <a:ext cx="4480560" cy="5212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8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Arial"/>
              </a:rPr>
              <a:t>Share the risk register, findings, and go/no-go results transparently.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85800" y="5715000"/>
            <a:ext cx="10817352" cy="521207"/>
          </a:xfrm>
          <a:prstGeom prst="roundRect">
            <a:avLst/>
          </a:prstGeom>
          <a:solidFill>
            <a:srgbClr val="111F33"/>
          </a:solidFill>
          <a:ln w="12700">
            <a:solidFill>
              <a:srgbClr val="FFB8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77824" y="5879592"/>
            <a:ext cx="10442448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85"/>
              </a:lnSpc>
              <a:spcBef>
                <a:spcPts val="0"/>
              </a:spcBef>
              <a:spcAft>
                <a:spcPts val="0"/>
              </a:spcAft>
            </a:pPr>
            <a:r>
              <a:rPr sz="919" b="1" i="0">
                <a:solidFill>
                  <a:srgbClr val="FFFFFF"/>
                </a:solidFill>
                <a:latin typeface="Arial"/>
              </a:rPr>
              <a:t>Any grant, prize, bounty, or remuneration is subject to TfNSW/relevant authority project approval, eligibility, evaluation, and written terms—not an entitlement.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6547104"/>
            <a:ext cx="7315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0"/>
              </a:lnSpc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8292A8"/>
                </a:solidFill>
                <a:latin typeface="Arial"/>
              </a:rPr>
              <a:t>RETROFLEX  ·  SPONSORSHIP DISCUSSION DRAFT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789920" y="6547104"/>
            <a:ext cx="7315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920"/>
              </a:lnSpc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8292A8"/>
                </a:solidFill>
                <a:latin typeface="Arial"/>
              </a:rPr>
              <a:t>09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326880" y="438912"/>
            <a:ext cx="2834640" cy="2834640"/>
          </a:xfrm>
          <a:prstGeom prst="ellipse">
            <a:avLst/>
          </a:prstGeom>
          <a:solidFill>
            <a:srgbClr val="11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530352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21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21C8B7"/>
                </a:solidFill>
                <a:latin typeface="Arial"/>
              </a:rPr>
              <a:t>10 · NEXT STEP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941832"/>
            <a:ext cx="6583680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894"/>
              </a:lnSpc>
              <a:spcBef>
                <a:spcPts val="0"/>
              </a:spcBef>
              <a:spcAft>
                <a:spcPts val="0"/>
              </a:spcAft>
            </a:pPr>
            <a:r>
              <a:rPr sz="3300" b="1" i="0">
                <a:solidFill>
                  <a:srgbClr val="FFFFFF"/>
                </a:solidFill>
                <a:latin typeface="Arial"/>
              </a:rPr>
              <a:t>Let’s agree on the</a:t>
            </a:r>
          </a:p>
          <a:p>
            <a:pPr algn="l">
              <a:lnSpc>
                <a:spcPts val="3894"/>
              </a:lnSpc>
              <a:spcBef>
                <a:spcPts val="0"/>
              </a:spcBef>
              <a:spcAft>
                <a:spcPts val="0"/>
              </a:spcAft>
            </a:pPr>
            <a:r>
              <a:rPr sz="3300" b="1" i="0">
                <a:solidFill>
                  <a:srgbClr val="FFFFFF"/>
                </a:solidFill>
                <a:latin typeface="Arial"/>
              </a:rPr>
              <a:t>first deliverable.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2157984"/>
            <a:ext cx="80467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93"/>
              </a:lnSpc>
              <a:spcBef>
                <a:spcPts val="0"/>
              </a:spcBef>
              <a:spcAft>
                <a:spcPts val="0"/>
              </a:spcAft>
            </a:pPr>
            <a:r>
              <a:rPr sz="1520" b="1" i="0">
                <a:solidFill>
                  <a:srgbClr val="8BE7D8"/>
                </a:solidFill>
                <a:latin typeface="Arial"/>
              </a:rPr>
              <a:t>A joint feasibility plan—not a promise to deploy.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2852928"/>
            <a:ext cx="3319272" cy="1252728"/>
          </a:xfrm>
          <a:prstGeom prst="roundRect">
            <a:avLst/>
          </a:prstGeom>
          <a:solidFill>
            <a:srgbClr val="111F33"/>
          </a:solidFill>
          <a:ln w="12700">
            <a:solidFill>
              <a:srgbClr val="1A2B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50976" y="3017520"/>
            <a:ext cx="4114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34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1C8B7"/>
                </a:solidFill>
                <a:latin typeface="Arial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99616" y="3026664"/>
            <a:ext cx="2286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38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Arial"/>
              </a:rPr>
              <a:t>DEMONSTRATE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976" y="3401568"/>
            <a:ext cx="288036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32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B5C1CE"/>
                </a:solidFill>
                <a:latin typeface="Arial"/>
              </a:rPr>
              <a:t>45-minute prototype briefing with the relevant TfNSW teams.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0832" y="2852928"/>
            <a:ext cx="3319272" cy="1252728"/>
          </a:xfrm>
          <a:prstGeom prst="roundRect">
            <a:avLst/>
          </a:prstGeom>
          <a:solidFill>
            <a:srgbClr val="111F33"/>
          </a:solidFill>
          <a:ln w="12700">
            <a:solidFill>
              <a:srgbClr val="1A2B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3017520"/>
            <a:ext cx="4114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34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1C8B7"/>
                </a:solidFill>
                <a:latin typeface="Arial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0640" y="3026664"/>
            <a:ext cx="2286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38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Arial"/>
              </a:rPr>
              <a:t>DEFINE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3401568"/>
            <a:ext cx="288036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32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B5C1CE"/>
                </a:solidFill>
                <a:latin typeface="Arial"/>
              </a:rPr>
              <a:t>Confirm rules, independent assessors, risks, and conditions for testing.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91856" y="2852928"/>
            <a:ext cx="3319272" cy="1252728"/>
          </a:xfrm>
          <a:prstGeom prst="roundRect">
            <a:avLst/>
          </a:prstGeom>
          <a:solidFill>
            <a:srgbClr val="111F33"/>
          </a:solidFill>
          <a:ln w="12700">
            <a:solidFill>
              <a:srgbClr val="1A2B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93024" y="3017520"/>
            <a:ext cx="4114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34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1C8B7"/>
                </a:solidFill>
                <a:latin typeface="Arial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41664" y="3026664"/>
            <a:ext cx="2286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38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Arial"/>
              </a:rPr>
              <a:t>DECIDE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93024" y="3401568"/>
            <a:ext cx="288036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32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B5C1CE"/>
                </a:solidFill>
                <a:latin typeface="Arial"/>
              </a:rPr>
              <a:t>Agree measures, governance, funding needs, and written go/no-go gates.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8" y="4498848"/>
            <a:ext cx="10561320" cy="64008"/>
          </a:xfrm>
          <a:prstGeom prst="roundRect">
            <a:avLst/>
          </a:prstGeom>
          <a:solidFill>
            <a:srgbClr val="21C8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808" y="4791456"/>
            <a:ext cx="87782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6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Arial"/>
              </a:rPr>
              <a:t>Would Transport for NSW be open to a short scoping meeting?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8" y="5321808"/>
            <a:ext cx="67665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97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8BE7D8"/>
                </a:solidFill>
                <a:latin typeface="Arial"/>
              </a:rPr>
              <a:t>Working prototype and demonstration available now.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8" y="5760720"/>
            <a:ext cx="71323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38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B5C1CE"/>
                </a:solidFill>
                <a:latin typeface="Arial"/>
              </a:rPr>
              <a:t>[Your name]   ·   [Email]   ·   [Phone]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8" y="6208776"/>
            <a:ext cx="886968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79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8292A8"/>
                </a:solidFill>
                <a:latin typeface="Arial"/>
              </a:rPr>
              <a:t>Independent concept. No TfNSW or rideshare-platform endorsement is claimed.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89920" y="6547104"/>
            <a:ext cx="7315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920"/>
              </a:lnSpc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8292A8"/>
                </a:solidFill>
                <a:latin typeface="Arial"/>
              </a:rPr>
              <a:t>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Retroflex — Digital Rideshare Identification</dc:title>
  <dc:subject>Transport for NSW sponsorship and co-design discussion draft</dc:subject>
  <dc:creator>Retroflex project team</dc:creator>
  <cp:keywords>rideshare, Android, safety-led pilot, Transport for NSW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